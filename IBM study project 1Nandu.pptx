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90" r:id="rId2"/>
    <p:sldId id="291" r:id="rId3"/>
    <p:sldId id="292" r:id="rId4"/>
    <p:sldId id="293" r:id="rId5"/>
    <p:sldId id="294" r:id="rId6"/>
    <p:sldId id="295" r:id="rId7"/>
    <p:sldId id="296" r:id="rId8"/>
    <p:sldId id="297" r:id="rId9"/>
    <p:sldId id="305" r:id="rId10"/>
    <p:sldId id="307" r:id="rId11"/>
    <p:sldId id="308" r:id="rId12"/>
    <p:sldId id="309"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27016150"/>
              </p:ext>
            </p:extLst>
          </p:nvPr>
        </p:nvGraphicFramePr>
        <p:xfrm>
          <a:off x="1299258" y="2600315"/>
          <a:ext cx="9319582" cy="2167128"/>
        </p:xfrm>
        <a:graphic>
          <a:graphicData uri="http://schemas.openxmlformats.org/drawingml/2006/table">
            <a:tbl>
              <a:tblPr>
                <a:noFill/>
                <a:tableStyleId>{0AAD8F4D-43EB-41E5-8A38-28AB6DFB1B60}</a:tableStyleId>
              </a:tblPr>
              <a:tblGrid>
                <a:gridCol w="2048294">
                  <a:extLst>
                    <a:ext uri="{9D8B030D-6E8A-4147-A177-3AD203B41FA5}">
                      <a16:colId xmlns:a16="http://schemas.microsoft.com/office/drawing/2014/main" val="20000"/>
                    </a:ext>
                  </a:extLst>
                </a:gridCol>
                <a:gridCol w="2423762">
                  <a:extLst>
                    <a:ext uri="{9D8B030D-6E8A-4147-A177-3AD203B41FA5}">
                      <a16:colId xmlns:a16="http://schemas.microsoft.com/office/drawing/2014/main" val="20002"/>
                    </a:ext>
                  </a:extLst>
                </a:gridCol>
                <a:gridCol w="2987862">
                  <a:extLst>
                    <a:ext uri="{9D8B030D-6E8A-4147-A177-3AD203B41FA5}">
                      <a16:colId xmlns:a16="http://schemas.microsoft.com/office/drawing/2014/main" val="20003"/>
                    </a:ext>
                  </a:extLst>
                </a:gridCol>
                <a:gridCol w="185966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M MANASA</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just" rtl="0">
                        <a:spcBef>
                          <a:spcPts val="0"/>
                        </a:spcBef>
                        <a:spcAft>
                          <a:spcPts val="0"/>
                        </a:spcAft>
                        <a:buNone/>
                      </a:pPr>
                      <a:r>
                        <a:rPr lang="en-IN" dirty="0"/>
                        <a:t>           mangalamanasa27@gmail.com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just" rtl="0">
                        <a:spcBef>
                          <a:spcPts val="0"/>
                        </a:spcBef>
                        <a:spcAft>
                          <a:spcPts val="0"/>
                        </a:spcAft>
                        <a:buNone/>
                      </a:pPr>
                      <a:endParaRPr lang="en-IN" dirty="0"/>
                    </a:p>
                    <a:p>
                      <a:pPr marL="0" marR="0" lvl="0" indent="0" algn="just" rtl="0">
                        <a:spcBef>
                          <a:spcPts val="0"/>
                        </a:spcBef>
                        <a:spcAft>
                          <a:spcPts val="0"/>
                        </a:spcAft>
                        <a:buNone/>
                      </a:pPr>
                      <a:r>
                        <a:rPr lang="en-IN" dirty="0"/>
                        <a:t>6309928227</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103715" y="3623559"/>
            <a:ext cx="857913" cy="1143884"/>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[AI &amp; ML]</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Smart Study Generator Agent</a:t>
            </a:r>
            <a:r>
              <a:rPr lang="en-US" sz="2400" b="1" dirty="0">
                <a:highlight>
                  <a:srgbClr val="FFFF00"/>
                </a:highlight>
              </a:rPr>
              <a:t>]</a:t>
            </a:r>
            <a:endParaRPr lang="en-IN" sz="2400" b="1" dirty="0">
              <a:highlight>
                <a:srgbClr val="FFFF00"/>
              </a:highlight>
            </a:endParaRP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r>
              <a:rPr lang="en-IN" b="1" dirty="0"/>
              <a:t>Problem Statement No: Smart Study Generator Agent</a:t>
            </a:r>
            <a:endParaRPr lang="en-IN" dirty="0"/>
          </a:p>
          <a:p>
            <a:r>
              <a:rPr lang="en-IN" b="1" dirty="0"/>
              <a:t>The Challenge</a:t>
            </a:r>
            <a:endParaRPr lang="en-IN" dirty="0"/>
          </a:p>
          <a:p>
            <a:r>
              <a:rPr lang="en-IN"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p>
          <a:p>
            <a:r>
              <a:rPr lang="en-IN" b="1" dirty="0"/>
              <a:t>The Objective</a:t>
            </a:r>
            <a:endParaRPr lang="en-IN" dirty="0"/>
          </a:p>
          <a:p>
            <a:r>
              <a:rPr lang="en-IN" dirty="0"/>
              <a:t>Build an agentic AI-powered Smart Study Generator that personalizes and streamlines learning for students. The solution should:</a:t>
            </a:r>
          </a:p>
          <a:p>
            <a:r>
              <a:rPr lang="en-IN" dirty="0"/>
              <a:t>1.    </a:t>
            </a:r>
            <a:r>
              <a:rPr lang="en-IN" b="1" dirty="0"/>
              <a:t>Fuse Learning Resources: </a:t>
            </a:r>
            <a:r>
              <a:rPr lang="en-IN" dirty="0"/>
              <a:t>Aggregate content from class notes, textbooks, research articles, and online tutorials into structured, easy-to-digest study material.</a:t>
            </a:r>
          </a:p>
          <a:p>
            <a:r>
              <a:rPr lang="en-IN" dirty="0"/>
              <a:t>2.    </a:t>
            </a:r>
            <a:r>
              <a:rPr lang="en-IN" b="1" dirty="0"/>
              <a:t>Enable Multimodal Input:</a:t>
            </a:r>
            <a:r>
              <a:rPr lang="en-IN" dirty="0"/>
              <a:t> Allow students to upload notes, voice queries, or images (e.g., textbook pages), and generate concise summaries, flashcards, or concept maps.</a:t>
            </a:r>
          </a:p>
          <a:p>
            <a:r>
              <a:rPr lang="en-IN" dirty="0"/>
              <a:t>3.    </a:t>
            </a:r>
            <a:r>
              <a:rPr lang="en-IN" b="1" dirty="0"/>
              <a:t>Create a Predictive &amp; Agentic Layer:</a:t>
            </a:r>
            <a:r>
              <a:rPr lang="en-IN" dirty="0"/>
              <a:t> Recommend personalized study plans, highlight important topics based on syllabus or past exams, and provide predictive alerts (e.g., “Focus on Topic X—frequently asked in exams”).</a:t>
            </a:r>
          </a:p>
          <a:p>
            <a:r>
              <a:rPr lang="en-IN" dirty="0"/>
              <a:t>4.    </a:t>
            </a:r>
            <a:r>
              <a:rPr lang="en-IN" b="1" dirty="0"/>
              <a:t>Visualize Study Progress:</a:t>
            </a:r>
            <a:r>
              <a:rPr lang="en-IN" dirty="0"/>
              <a:t> Offer a real-time dashboard showing learning milestones, weak areas, practice quizzes, and performance forecasts.</a:t>
            </a:r>
          </a:p>
          <a:p>
            <a:r>
              <a:rPr lang="en-IN" b="1" dirty="0"/>
              <a:t>Tech Stack (Mandatory)</a:t>
            </a:r>
            <a:endParaRPr lang="en-IN" dirty="0"/>
          </a:p>
          <a:p>
            <a:pPr lvl="0"/>
            <a:r>
              <a:rPr lang="en-IN" dirty="0"/>
              <a:t>IBM </a:t>
            </a:r>
            <a:r>
              <a:rPr lang="en-IN" dirty="0" err="1"/>
              <a:t>Langflow</a:t>
            </a:r>
            <a:r>
              <a:rPr lang="en-IN" dirty="0"/>
              <a:t> / IBM Orchestrate + IBM Models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36743" y="615147"/>
            <a:ext cx="10809683" cy="5693866"/>
          </a:xfrm>
          <a:prstGeom prst="rect">
            <a:avLst/>
          </a:prstGeom>
          <a:noFill/>
        </p:spPr>
        <p:txBody>
          <a:bodyPr wrap="square" rtlCol="0">
            <a:spAutoFit/>
          </a:bodyPr>
          <a:lstStyle/>
          <a:p>
            <a:pPr algn="just"/>
            <a:r>
              <a:rPr lang="en-IN" sz="1300" b="1" dirty="0"/>
              <a:t>Proposed Solution: AI-Powered Smart Study Generator Agent</a:t>
            </a:r>
          </a:p>
          <a:p>
            <a:pPr algn="just"/>
            <a:r>
              <a:rPr lang="en-IN" sz="1300" dirty="0"/>
              <a:t>The proposed solution is a </a:t>
            </a:r>
            <a:r>
              <a:rPr lang="en-IN" sz="1300" b="1" dirty="0"/>
              <a:t>multi-agent AI-powered Smart Study Generator Agent</a:t>
            </a:r>
            <a:r>
              <a:rPr lang="en-IN" sz="1300" dirty="0"/>
              <a:t> built using </a:t>
            </a:r>
            <a:r>
              <a:rPr lang="en-IN" sz="1300" b="1" dirty="0"/>
              <a:t>IBM </a:t>
            </a:r>
            <a:r>
              <a:rPr lang="en-IN" sz="1300" b="1" dirty="0" err="1"/>
              <a:t>Langflow</a:t>
            </a:r>
            <a:r>
              <a:rPr lang="en-IN" sz="1300" b="1" dirty="0"/>
              <a:t> or IBM </a:t>
            </a:r>
            <a:r>
              <a:rPr lang="en-IN" sz="1300" b="1" dirty="0" err="1"/>
              <a:t>watsonx</a:t>
            </a:r>
            <a:r>
              <a:rPr lang="en-IN" sz="1300" b="1" dirty="0"/>
              <a:t> Orchestrate, IBM watsonx.ai, and Granite Models</a:t>
            </a:r>
            <a:r>
              <a:rPr lang="en-IN" sz="1300" dirty="0"/>
              <a:t> to provide personalized, adaptive, and exam-oriented learning support. The system addresses challenges in organizing study materials, understanding complex concepts, preparing for examinations, and tracking academic progress through an intelligent, modular architecture.</a:t>
            </a:r>
          </a:p>
          <a:p>
            <a:pPr algn="just"/>
            <a:r>
              <a:rPr lang="en-IN" sz="1300" dirty="0"/>
              <a:t>At its core, the solution uses a </a:t>
            </a:r>
            <a:r>
              <a:rPr lang="en-IN" sz="1300" b="1" dirty="0"/>
              <a:t>Retrieval-Augmented Generation (RAG) pipeline</a:t>
            </a:r>
            <a:r>
              <a:rPr lang="en-IN" sz="1300" dirty="0"/>
              <a:t> to extract, retrieve, and summarize relevant information from trusted learning resources such as lecture notes, textbooks, research papers, syllabus documents, and past examination papers. The extracted content is processed into searchable embeddings and stored in a vector database, enabling IBM Granite models to generate context-aware summaries, flashcards, practice questions, and concept maps based on the student's learning materials.</a:t>
            </a:r>
          </a:p>
          <a:p>
            <a:pPr algn="just"/>
            <a:r>
              <a:rPr lang="en-IN" sz="1300" dirty="0"/>
              <a:t>The system consists of four key agents:</a:t>
            </a:r>
          </a:p>
          <a:p>
            <a:pPr algn="just"/>
            <a:r>
              <a:rPr lang="en-IN" sz="1300" b="1" dirty="0"/>
              <a:t>Learning Resource Agent:</a:t>
            </a:r>
            <a:r>
              <a:rPr lang="en-IN" sz="1300" dirty="0"/>
              <a:t> Collects and processes learning materials from PDFs, text files, textbook images, and other supported sources. It extracts important concepts and organizes information into structured study content using document processing, OCR, and RAG.</a:t>
            </a:r>
          </a:p>
          <a:p>
            <a:pPr algn="just"/>
            <a:r>
              <a:rPr lang="en-IN" sz="1300" b="1" dirty="0"/>
              <a:t>Smart Study Generation Agent:</a:t>
            </a:r>
            <a:r>
              <a:rPr lang="en-IN" sz="1300" dirty="0"/>
              <a:t> Uses IBM Granite models to generate concise summaries, topic-wise notes, flashcards, quizzes, and concept maps in simple, student-friendly language based on the retrieved learning content.</a:t>
            </a:r>
          </a:p>
          <a:p>
            <a:pPr algn="just"/>
            <a:r>
              <a:rPr lang="en-IN" sz="1300" b="1" dirty="0"/>
              <a:t>Personalized Study Planning Agent:</a:t>
            </a:r>
            <a:r>
              <a:rPr lang="en-IN" sz="1300" dirty="0"/>
              <a:t> Creates adaptive study timetables based on the student's syllabus, examination date, available study hours, and quiz performance. It identifies important topics from provided past examination papers and recommends revision priorities based on frequency and syllabus coverage.</a:t>
            </a:r>
          </a:p>
          <a:p>
            <a:pPr algn="just"/>
            <a:r>
              <a:rPr lang="en-IN" sz="1300" b="1" dirty="0"/>
              <a:t>Performance Monitoring and Feedback Agent:</a:t>
            </a:r>
            <a:r>
              <a:rPr lang="en-IN" sz="1300" dirty="0"/>
              <a:t> Tracks quiz scores, completed topics, learning milestones, and weak areas. It provides personalized feedback, recommends additional practice, and updates study priorities to improve learning outcomes.</a:t>
            </a:r>
          </a:p>
          <a:p>
            <a:pPr algn="just"/>
            <a:r>
              <a:rPr lang="en-IN" sz="1300" dirty="0"/>
              <a:t>The solution includes a </a:t>
            </a:r>
            <a:r>
              <a:rPr lang="en-IN" sz="1300" b="1" dirty="0"/>
              <a:t>user-friendly dashboard</a:t>
            </a:r>
            <a:r>
              <a:rPr lang="en-IN" sz="1300" dirty="0"/>
              <a:t>, built using </a:t>
            </a:r>
            <a:r>
              <a:rPr lang="en-IN" sz="1300" dirty="0" err="1"/>
              <a:t>Streamlit</a:t>
            </a:r>
            <a:r>
              <a:rPr lang="en-IN" sz="1300" dirty="0"/>
              <a:t> or React, that displays study progress, quiz performance, topic-wise strengths and weaknesses, upcoming study tasks, and estimated exam readiness. It also supports text queries and, where integrated, voice input and image uploads to make learning more accessible and interactive.</a:t>
            </a:r>
          </a:p>
          <a:p>
            <a:pPr algn="just"/>
            <a:r>
              <a:rPr lang="en-IN" sz="1300" dirty="0"/>
              <a:t>IBM </a:t>
            </a:r>
            <a:r>
              <a:rPr lang="en-IN" sz="1300" dirty="0" err="1"/>
              <a:t>Langflow</a:t>
            </a:r>
            <a:r>
              <a:rPr lang="en-IN" sz="1300" dirty="0"/>
              <a:t> or </a:t>
            </a:r>
            <a:r>
              <a:rPr lang="en-IN" sz="1300" dirty="0" err="1"/>
              <a:t>watsonx</a:t>
            </a:r>
            <a:r>
              <a:rPr lang="en-IN" sz="1300" dirty="0"/>
              <a:t> Orchestrate coordinates the agent workflows, while IBM watsonx.ai provides access to supported AI models, embeddings, and governance capabilities. IBM Granite models power summarization, question generation, contextual responses, and study-plan personalization.</a:t>
            </a:r>
          </a:p>
          <a:p>
            <a:pPr algn="just"/>
            <a:r>
              <a:rPr lang="en-IN" sz="1300" dirty="0"/>
              <a:t>Overall, this solution delivers an </a:t>
            </a:r>
            <a:r>
              <a:rPr lang="en-IN" sz="1300" b="1" dirty="0"/>
              <a:t>end-to-end intelligent study companion</a:t>
            </a:r>
            <a:r>
              <a:rPr lang="en-IN" sz="1300" dirty="0"/>
              <a:t> that transforms scattered educational resources into personalized study materials, supports adaptive learning, and helps students prepare more effectively for examinations through continuous feedback and progress tracking.</a:t>
            </a:r>
          </a:p>
        </p:txBody>
      </p:sp>
      <p:sp>
        <p:nvSpPr>
          <p:cNvPr id="3" name="TextBox 2">
            <a:extLst>
              <a:ext uri="{FF2B5EF4-FFF2-40B4-BE49-F238E27FC236}">
                <a16:creationId xmlns:a16="http://schemas.microsoft.com/office/drawing/2014/main" id="{527F30CC-07EF-8FCC-DA00-C9212F5DAECE}"/>
              </a:ext>
            </a:extLst>
          </p:cNvPr>
          <p:cNvSpPr txBox="1"/>
          <p:nvPr/>
        </p:nvSpPr>
        <p:spPr>
          <a:xfrm>
            <a:off x="536743" y="153482"/>
            <a:ext cx="7214616" cy="461665"/>
          </a:xfrm>
          <a:prstGeom prst="rect">
            <a:avLst/>
          </a:prstGeom>
          <a:noFill/>
        </p:spPr>
        <p:txBody>
          <a:bodyPr wrap="square" rtlCol="0">
            <a:spAutoFit/>
          </a:bodyPr>
          <a:lstStyle/>
          <a:p>
            <a:r>
              <a:rPr lang="en-US" sz="2400" b="1"/>
              <a:t>Proposed Solution -</a:t>
            </a:r>
            <a:endParaRPr lang="en-IN" sz="2400" b="1"/>
          </a:p>
        </p:txBody>
      </p:sp>
      <p:graphicFrame>
        <p:nvGraphicFramePr>
          <p:cNvPr id="4" name="Table 3">
            <a:extLst>
              <a:ext uri="{FF2B5EF4-FFF2-40B4-BE49-F238E27FC236}">
                <a16:creationId xmlns:a16="http://schemas.microsoft.com/office/drawing/2014/main" id="{E34E1FA6-1A19-8C89-A1D3-1299CDD63E24}"/>
              </a:ext>
            </a:extLst>
          </p:cNvPr>
          <p:cNvGraphicFramePr>
            <a:graphicFrameLocks noGrp="1"/>
          </p:cNvGraphicFramePr>
          <p:nvPr>
            <p:extLst>
              <p:ext uri="{D42A27DB-BD31-4B8C-83A1-F6EECF244321}">
                <p14:modId xmlns:p14="http://schemas.microsoft.com/office/powerpoint/2010/main" val="2930404550"/>
              </p:ext>
            </p:extLst>
          </p:nvPr>
        </p:nvGraphicFramePr>
        <p:xfrm>
          <a:off x="2421193" y="-524285"/>
          <a:ext cx="5582266" cy="2743200"/>
        </p:xfrm>
        <a:graphic>
          <a:graphicData uri="http://schemas.openxmlformats.org/drawingml/2006/table">
            <a:tbl>
              <a:tblPr/>
              <a:tblGrid>
                <a:gridCol w="2791133">
                  <a:extLst>
                    <a:ext uri="{9D8B030D-6E8A-4147-A177-3AD203B41FA5}">
                      <a16:colId xmlns:a16="http://schemas.microsoft.com/office/drawing/2014/main" val="834663072"/>
                    </a:ext>
                  </a:extLst>
                </a:gridCol>
                <a:gridCol w="2791133">
                  <a:extLst>
                    <a:ext uri="{9D8B030D-6E8A-4147-A177-3AD203B41FA5}">
                      <a16:colId xmlns:a16="http://schemas.microsoft.com/office/drawing/2014/main" val="2360416442"/>
                    </a:ext>
                  </a:extLst>
                </a:gridCol>
              </a:tblGrid>
              <a:tr h="164224">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245607534"/>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922422577"/>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555386054"/>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277674373"/>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915545635"/>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538463954"/>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782776877"/>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794024695"/>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875550500"/>
                  </a:ext>
                </a:extLst>
              </a:tr>
            </a:tbl>
          </a:graphicData>
        </a:graphic>
      </p:graphicFrame>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983302" cy="461665"/>
          </a:xfrm>
          <a:prstGeom prst="rect">
            <a:avLst/>
          </a:prstGeom>
          <a:noFill/>
        </p:spPr>
        <p:txBody>
          <a:bodyPr wrap="square" lIns="91440" tIns="45720" rIns="91440" bIns="45720" rtlCol="0" anchor="t">
            <a:spAutoFit/>
          </a:bodyPr>
          <a:lstStyle/>
          <a:p>
            <a:r>
              <a:rPr lang="en-US" sz="2400" b="1" dirty="0"/>
              <a:t>Technology Used- </a:t>
            </a:r>
            <a:r>
              <a:rPr lang="en-IN" sz="2400" b="1" dirty="0"/>
              <a:t>Smart Study Generator Agent</a:t>
            </a:r>
          </a:p>
        </p:txBody>
      </p:sp>
      <p:sp>
        <p:nvSpPr>
          <p:cNvPr id="3" name="TextBox 2">
            <a:extLst>
              <a:ext uri="{FF2B5EF4-FFF2-40B4-BE49-F238E27FC236}">
                <a16:creationId xmlns:a16="http://schemas.microsoft.com/office/drawing/2014/main" id="{4A7608B5-9906-EFCF-959A-E89FC2E3EE19}"/>
              </a:ext>
            </a:extLst>
          </p:cNvPr>
          <p:cNvSpPr txBox="1"/>
          <p:nvPr/>
        </p:nvSpPr>
        <p:spPr>
          <a:xfrm>
            <a:off x="639588" y="946297"/>
            <a:ext cx="10515600" cy="5693866"/>
          </a:xfrm>
          <a:prstGeom prst="rect">
            <a:avLst/>
          </a:prstGeom>
          <a:noFill/>
        </p:spPr>
        <p:txBody>
          <a:bodyPr wrap="square" rtlCol="0">
            <a:spAutoFit/>
          </a:bodyPr>
          <a:lstStyle/>
          <a:p>
            <a:pPr marL="285750" indent="-285750" algn="just">
              <a:buFontTx/>
              <a:buChar char="-"/>
            </a:pPr>
            <a:r>
              <a:rPr lang="en-IN" b="1" dirty="0"/>
              <a:t>IBM Bob Platform </a:t>
            </a:r>
            <a:r>
              <a:rPr lang="en-IN" dirty="0"/>
              <a:t>– For designing, developing, and orchestrating multi-agent AI workflows for study material generation and personalized learning.</a:t>
            </a:r>
          </a:p>
          <a:p>
            <a:pPr algn="just"/>
            <a:endParaRPr lang="en-IN" b="1" dirty="0"/>
          </a:p>
          <a:p>
            <a:pPr marL="285750" indent="-285750" algn="just">
              <a:buFontTx/>
              <a:buChar char="-"/>
            </a:pPr>
            <a:r>
              <a:rPr lang="en-IN" b="1" dirty="0"/>
              <a:t>IBM Granite Model </a:t>
            </a:r>
            <a:r>
              <a:rPr lang="en-IN" dirty="0"/>
              <a:t>– For example, ibm-granite-3-2-8b – For natural language understanding, reasoning, summarization, question generation, and personalized study recommendations.</a:t>
            </a:r>
          </a:p>
          <a:p>
            <a:pPr algn="just"/>
            <a:endParaRPr lang="en-IN" dirty="0"/>
          </a:p>
          <a:p>
            <a:pPr marL="285750" indent="-285750" algn="just">
              <a:buFontTx/>
              <a:buChar char="-"/>
            </a:pPr>
            <a:r>
              <a:rPr lang="en-IN" b="1" dirty="0"/>
              <a:t>RAG (Retrieval-Augmented Generation) </a:t>
            </a:r>
            <a:r>
              <a:rPr lang="en-IN" dirty="0"/>
              <a:t>– Retrieves relevant information from lecture notes, textbooks, research papers, syllabi, and past examination papers before generating accurate, context-based study materials.</a:t>
            </a:r>
          </a:p>
          <a:p>
            <a:pPr algn="just"/>
            <a:endParaRPr lang="en-IN" dirty="0"/>
          </a:p>
          <a:p>
            <a:pPr marL="285750" indent="-285750" algn="just">
              <a:buFontTx/>
              <a:buChar char="-"/>
            </a:pPr>
            <a:r>
              <a:rPr lang="en-IN" b="1" dirty="0"/>
              <a:t>IBM watsonx.ai </a:t>
            </a:r>
            <a:r>
              <a:rPr lang="en-IN" dirty="0"/>
              <a:t>– For AI model deployment, embeddings, model inference, and AI governance capabilities.</a:t>
            </a:r>
          </a:p>
          <a:p>
            <a:pPr algn="just"/>
            <a:endParaRPr lang="en-IN" dirty="0"/>
          </a:p>
          <a:p>
            <a:pPr marL="285750" indent="-285750" algn="just">
              <a:buFontTx/>
              <a:buChar char="-"/>
            </a:pPr>
            <a:r>
              <a:rPr lang="en-IN" b="1" dirty="0"/>
              <a:t>Vector Database (FAISS/Chroma) </a:t>
            </a:r>
            <a:r>
              <a:rPr lang="en-IN" dirty="0"/>
              <a:t>– For storing and retrieving document embeddings to support semantic search and RAG-based learning material retrieval.</a:t>
            </a:r>
          </a:p>
          <a:p>
            <a:pPr algn="just"/>
            <a:endParaRPr lang="en-IN" dirty="0"/>
          </a:p>
          <a:p>
            <a:pPr marL="285750" indent="-285750" algn="just">
              <a:buFontTx/>
              <a:buChar char="-"/>
            </a:pPr>
            <a:r>
              <a:rPr lang="en-IN" b="1" dirty="0"/>
              <a:t>Python</a:t>
            </a:r>
            <a:r>
              <a:rPr lang="en-IN" dirty="0"/>
              <a:t> – For backend development, document processing, agent logic, and integration of AI components.</a:t>
            </a:r>
          </a:p>
          <a:p>
            <a:pPr algn="just"/>
            <a:endParaRPr lang="en-IN" dirty="0"/>
          </a:p>
          <a:p>
            <a:pPr marL="285750" indent="-285750" algn="just">
              <a:buFontTx/>
              <a:buChar char="-"/>
            </a:pPr>
            <a:r>
              <a:rPr lang="en-IN" b="1" dirty="0" err="1"/>
              <a:t>Streamlit</a:t>
            </a:r>
            <a:r>
              <a:rPr lang="en-IN" dirty="0"/>
              <a:t> – For developing a user-friendly web interface with file uploads, study plan generation, quizzes, and progress dashboards.</a:t>
            </a:r>
          </a:p>
          <a:p>
            <a:pPr algn="just"/>
            <a:endParaRPr lang="en-IN" dirty="0"/>
          </a:p>
          <a:p>
            <a:pPr marL="285750" indent="-285750" algn="just">
              <a:buFontTx/>
              <a:buChar char="-"/>
            </a:pPr>
            <a:r>
              <a:rPr lang="en-IN" b="1" dirty="0"/>
              <a:t>OCR (Optical Character Recognition) </a:t>
            </a:r>
            <a:r>
              <a:rPr lang="en-IN" dirty="0"/>
              <a:t>– For extracting text from uploaded textbook images and scanned study notes.</a:t>
            </a:r>
          </a:p>
          <a:p>
            <a:pPr algn="just"/>
            <a:endParaRPr lang="en-IN" dirty="0"/>
          </a:p>
          <a:p>
            <a:pPr algn="just"/>
            <a:r>
              <a:rPr lang="en-IN" b="1" dirty="0"/>
              <a:t>- </a:t>
            </a:r>
            <a:r>
              <a:rPr lang="en-IN" b="1" dirty="0" err="1"/>
              <a:t>Plotly</a:t>
            </a:r>
            <a:r>
              <a:rPr lang="en-IN" b="1" dirty="0"/>
              <a:t> / </a:t>
            </a:r>
            <a:r>
              <a:rPr lang="en-IN" b="1" dirty="0" err="1"/>
              <a:t>Streamlit</a:t>
            </a:r>
            <a:r>
              <a:rPr lang="en-IN" b="1" dirty="0"/>
              <a:t> Charts </a:t>
            </a:r>
            <a:r>
              <a:rPr lang="en-IN" dirty="0"/>
              <a:t>– For visualizing quiz scores, learning progress, completed topics, and weak areas.</a:t>
            </a:r>
          </a:p>
          <a:p>
            <a:pPr marL="285750" indent="-285750" algn="just">
              <a:buFont typeface="Arial" panose="020B0604020202020204" pitchFamily="34" charset="0"/>
              <a:buChar char="•"/>
            </a:pPr>
            <a:endParaRPr lang="en-US" dirty="0"/>
          </a:p>
          <a:p>
            <a:pPr algn="just"/>
            <a:endParaRPr lang="en-US" dirty="0"/>
          </a:p>
          <a:p>
            <a:pPr algn="just"/>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0AF20A80-C6BB-3A4F-985F-CB189F9306C1}"/>
              </a:ext>
            </a:extLst>
          </p:cNvPr>
          <p:cNvPicPr>
            <a:picLocks noChangeAspect="1"/>
          </p:cNvPicPr>
          <p:nvPr/>
        </p:nvPicPr>
        <p:blipFill>
          <a:blip r:embed="rId3"/>
          <a:stretch>
            <a:fillRect/>
          </a:stretch>
        </p:blipFill>
        <p:spPr>
          <a:xfrm>
            <a:off x="4274382" y="1059120"/>
            <a:ext cx="7442796" cy="473975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7" name="Picture 6">
            <a:extLst>
              <a:ext uri="{FF2B5EF4-FFF2-40B4-BE49-F238E27FC236}">
                <a16:creationId xmlns:a16="http://schemas.microsoft.com/office/drawing/2014/main" id="{A0437EBB-4AA1-78CD-6881-87559F8AFDC1}"/>
              </a:ext>
            </a:extLst>
          </p:cNvPr>
          <p:cNvPicPr>
            <a:picLocks noChangeAspect="1"/>
          </p:cNvPicPr>
          <p:nvPr/>
        </p:nvPicPr>
        <p:blipFill>
          <a:blip r:embed="rId3"/>
          <a:stretch>
            <a:fillRect/>
          </a:stretch>
        </p:blipFill>
        <p:spPr>
          <a:xfrm>
            <a:off x="1327354" y="978306"/>
            <a:ext cx="9163665" cy="5556455"/>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E8D633-A4A0-F45C-29AA-243132B2B393}"/>
              </a:ext>
            </a:extLst>
          </p:cNvPr>
          <p:cNvPicPr>
            <a:picLocks noChangeAspect="1"/>
          </p:cNvPicPr>
          <p:nvPr/>
        </p:nvPicPr>
        <p:blipFill>
          <a:blip r:embed="rId2"/>
          <a:stretch>
            <a:fillRect/>
          </a:stretch>
        </p:blipFill>
        <p:spPr>
          <a:xfrm>
            <a:off x="0" y="190500"/>
            <a:ext cx="12192000" cy="647700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246925" y="149507"/>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2800" dirty="0"/>
          </a:p>
        </p:txBody>
      </p:sp>
      <p:pic>
        <p:nvPicPr>
          <p:cNvPr id="3" name="Picture 2">
            <a:extLst>
              <a:ext uri="{FF2B5EF4-FFF2-40B4-BE49-F238E27FC236}">
                <a16:creationId xmlns:a16="http://schemas.microsoft.com/office/drawing/2014/main" id="{E5EBBD7C-6BCE-C23D-27F3-0237C6C30DCB}"/>
              </a:ext>
            </a:extLst>
          </p:cNvPr>
          <p:cNvPicPr>
            <a:picLocks noChangeAspect="1"/>
          </p:cNvPicPr>
          <p:nvPr/>
        </p:nvPicPr>
        <p:blipFill>
          <a:blip r:embed="rId2"/>
          <a:stretch>
            <a:fillRect/>
          </a:stretch>
        </p:blipFill>
        <p:spPr>
          <a:xfrm>
            <a:off x="1617983" y="762000"/>
            <a:ext cx="8956034" cy="5303520"/>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405114" y="101934"/>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pic>
        <p:nvPicPr>
          <p:cNvPr id="3" name="Picture 2">
            <a:extLst>
              <a:ext uri="{FF2B5EF4-FFF2-40B4-BE49-F238E27FC236}">
                <a16:creationId xmlns:a16="http://schemas.microsoft.com/office/drawing/2014/main" id="{7080F94C-591C-FAD0-7DF4-A673FB521C05}"/>
              </a:ext>
            </a:extLst>
          </p:cNvPr>
          <p:cNvPicPr>
            <a:picLocks noChangeAspect="1"/>
          </p:cNvPicPr>
          <p:nvPr/>
        </p:nvPicPr>
        <p:blipFill>
          <a:blip r:embed="rId2"/>
          <a:stretch>
            <a:fillRect/>
          </a:stretch>
        </p:blipFill>
        <p:spPr>
          <a:xfrm>
            <a:off x="1940118" y="1224502"/>
            <a:ext cx="7235688" cy="4261900"/>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1126</Words>
  <Application>Microsoft Office PowerPoint</Application>
  <PresentationFormat>Widescreen</PresentationFormat>
  <Paragraphs>87</Paragraphs>
  <Slides>12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narayanaswami2004@gmail.com</cp:lastModifiedBy>
  <cp:revision>4</cp:revision>
  <dcterms:created xsi:type="dcterms:W3CDTF">2025-07-08T05:06:56Z</dcterms:created>
  <dcterms:modified xsi:type="dcterms:W3CDTF">2026-10-10T06:49:57Z</dcterms:modified>
</cp:coreProperties>
</file>